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IBM Plex Sans"/>
      <p:regular r:id="rId20"/>
      <p:bold r:id="rId21"/>
      <p:italic r:id="rId22"/>
      <p:boldItalic r:id="rId23"/>
    </p:embeddedFont>
    <p:embeddedFont>
      <p:font typeface="Sora SemiBold"/>
      <p:regular r:id="rId24"/>
      <p:bold r:id="rId25"/>
    </p:embeddedFont>
    <p:embeddedFont>
      <p:font typeface="IBM Plex Sans Medium"/>
      <p:regular r:id="rId26"/>
      <p:bold r:id="rId27"/>
      <p:italic r:id="rId28"/>
      <p:boldItalic r:id="rId29"/>
    </p:embeddedFont>
    <p:embeddedFont>
      <p:font typeface="Sora Light"/>
      <p:regular r:id="rId30"/>
      <p:bold r:id="rId31"/>
    </p:embeddedFont>
    <p:embeddedFont>
      <p:font typeface="Sora ExtraLight"/>
      <p:regular r:id="rId32"/>
      <p:bold r:id="rId33"/>
    </p:embeddedFont>
    <p:embeddedFont>
      <p:font typeface="Sora"/>
      <p:regular r:id="rId34"/>
      <p:bold r:id="rId35"/>
    </p:embeddedFont>
    <p:embeddedFont>
      <p:font typeface="Sora Medium"/>
      <p:regular r:id="rId36"/>
      <p:bold r:id="rId37"/>
    </p:embeddedFont>
    <p:embeddedFont>
      <p:font typeface="IBM Plex Sans SemiBol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SemiBold-italic.fntdata"/><Relationship Id="rId41" Type="http://schemas.openxmlformats.org/officeDocument/2006/relationships/font" Target="fonts/IBMPlexSansSemiBold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oraLight-bold.fntdata"/><Relationship Id="rId30" Type="http://schemas.openxmlformats.org/officeDocument/2006/relationships/font" Target="fonts/SoraLight-regular.fntdata"/><Relationship Id="rId33" Type="http://schemas.openxmlformats.org/officeDocument/2006/relationships/font" Target="fonts/SoraExtraLight-bold.fntdata"/><Relationship Id="rId32" Type="http://schemas.openxmlformats.org/officeDocument/2006/relationships/font" Target="fonts/SoraExtraLight-regular.fntdata"/><Relationship Id="rId35" Type="http://schemas.openxmlformats.org/officeDocument/2006/relationships/font" Target="fonts/Sora-bold.fntdata"/><Relationship Id="rId34" Type="http://schemas.openxmlformats.org/officeDocument/2006/relationships/font" Target="fonts/Sora-regular.fntdata"/><Relationship Id="rId37" Type="http://schemas.openxmlformats.org/officeDocument/2006/relationships/font" Target="fonts/SoraMedium-bold.fntdata"/><Relationship Id="rId36" Type="http://schemas.openxmlformats.org/officeDocument/2006/relationships/font" Target="fonts/SoraMedium-regular.fntdata"/><Relationship Id="rId39" Type="http://schemas.openxmlformats.org/officeDocument/2006/relationships/font" Target="fonts/IBMPlexSansSemiBold-bold.fntdata"/><Relationship Id="rId38" Type="http://schemas.openxmlformats.org/officeDocument/2006/relationships/font" Target="fonts/IBMPlexSansSemiBold-regular.fntdata"/><Relationship Id="rId20" Type="http://schemas.openxmlformats.org/officeDocument/2006/relationships/font" Target="fonts/IBMPlexSans-regular.fntdata"/><Relationship Id="rId22" Type="http://schemas.openxmlformats.org/officeDocument/2006/relationships/font" Target="fonts/IBMPlexSans-italic.fntdata"/><Relationship Id="rId21" Type="http://schemas.openxmlformats.org/officeDocument/2006/relationships/font" Target="fonts/IBMPlexSans-bold.fntdata"/><Relationship Id="rId24" Type="http://schemas.openxmlformats.org/officeDocument/2006/relationships/font" Target="fonts/SoraSemiBold-regular.fntdata"/><Relationship Id="rId23" Type="http://schemas.openxmlformats.org/officeDocument/2006/relationships/font" Target="fonts/IBMPlexSans-boldItalic.fntdata"/><Relationship Id="rId26" Type="http://schemas.openxmlformats.org/officeDocument/2006/relationships/font" Target="fonts/IBMPlexSansMedium-regular.fntdata"/><Relationship Id="rId25" Type="http://schemas.openxmlformats.org/officeDocument/2006/relationships/font" Target="fonts/SoraSemiBold-bold.fntdata"/><Relationship Id="rId28" Type="http://schemas.openxmlformats.org/officeDocument/2006/relationships/font" Target="fonts/IBMPlexSansMedium-italic.fntdata"/><Relationship Id="rId27" Type="http://schemas.openxmlformats.org/officeDocument/2006/relationships/font" Target="fonts/IBMPlexSansMedium-bold.fntdata"/><Relationship Id="rId29" Type="http://schemas.openxmlformats.org/officeDocument/2006/relationships/font" Target="fonts/IBMPlexSans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a39cdcf204_0_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a39cdcf204_0_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a39cdcf204_0_1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a39cdcf204_0_1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a39cdcf204_0_20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3a39cdcf204_0_2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a39cdcf204_0_1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3a39cdcf204_0_1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a39cdcf204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a39cdcf204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a39cdcf204_0_1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3a39cdcf204_0_1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3a39cdcf204_0_1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3a39cdcf204_0_1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a39cdcf204_0_1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3a39cdcf204_0_1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a39cdcf204_0_1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3a39cdcf204_0_1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3a39cdcf204_0_1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3a39cdcf204_0_1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a39cdcf204_0_2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3a39cdcf204_0_2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a39cdcf204_0_20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3a39cdcf204_0_20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a39cdcf204_0_2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3a39cdcf204_0_2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idx="2" type="subTitle"/>
          </p:nvPr>
        </p:nvSpPr>
        <p:spPr>
          <a:xfrm>
            <a:off x="138475" y="228600"/>
            <a:ext cx="24678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eGain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2025 - Functional Presentation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4" name="Google Shape;934;p63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Project </a:t>
            </a:r>
            <a:r>
              <a:rPr lang="en">
                <a:solidFill>
                  <a:schemeClr val="dk2"/>
                </a:solidFill>
              </a:rPr>
              <a:t>kickoff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presentation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35" name="Google Shape;935;p63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By Andrey Neudachin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4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941" name="Google Shape;941;p64"/>
          <p:cNvSpPr txBox="1"/>
          <p:nvPr>
            <p:ph type="title"/>
          </p:nvPr>
        </p:nvSpPr>
        <p:spPr>
          <a:xfrm>
            <a:off x="38100" y="93150"/>
            <a:ext cx="20580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eGain - Functional Portion</a:t>
            </a:r>
            <a:endParaRPr/>
          </a:p>
        </p:txBody>
      </p:sp>
      <p:sp>
        <p:nvSpPr>
          <p:cNvPr id="942" name="Google Shape;942;p64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5</a:t>
            </a:r>
            <a:r>
              <a:rPr b="0" lang="en"/>
              <a:t>.</a:t>
            </a:r>
            <a:endParaRPr b="0"/>
          </a:p>
        </p:txBody>
      </p:sp>
      <p:sp>
        <p:nvSpPr>
          <p:cNvPr id="943" name="Google Shape;943;p64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Improvements</a:t>
            </a:r>
            <a:endParaRPr/>
          </a:p>
        </p:txBody>
      </p:sp>
      <p:sp>
        <p:nvSpPr>
          <p:cNvPr id="944" name="Google Shape;944;p64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4</a:t>
            </a:r>
            <a:r>
              <a:rPr b="0" lang="en"/>
              <a:t>.</a:t>
            </a:r>
            <a:endParaRPr b="0"/>
          </a:p>
        </p:txBody>
      </p:sp>
      <p:sp>
        <p:nvSpPr>
          <p:cNvPr id="945" name="Google Shape;945;p64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Faced</a:t>
            </a:r>
            <a:endParaRPr/>
          </a:p>
        </p:txBody>
      </p:sp>
      <p:sp>
        <p:nvSpPr>
          <p:cNvPr id="946" name="Google Shape;946;p64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3.</a:t>
            </a:r>
            <a:endParaRPr b="0"/>
          </a:p>
        </p:txBody>
      </p:sp>
      <p:sp>
        <p:nvSpPr>
          <p:cNvPr id="947" name="Google Shape;947;p64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Implementation</a:t>
            </a:r>
            <a:endParaRPr/>
          </a:p>
        </p:txBody>
      </p:sp>
      <p:sp>
        <p:nvSpPr>
          <p:cNvPr id="948" name="Google Shape;948;p64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2</a:t>
            </a:r>
            <a:r>
              <a:rPr b="0" lang="en"/>
              <a:t>.</a:t>
            </a:r>
            <a:endParaRPr b="0"/>
          </a:p>
        </p:txBody>
      </p:sp>
      <p:sp>
        <p:nvSpPr>
          <p:cNvPr id="949" name="Google Shape;949;p64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ystem Design &amp; Architecture Tech Stack</a:t>
            </a:r>
            <a:endParaRPr/>
          </a:p>
        </p:txBody>
      </p:sp>
      <p:sp>
        <p:nvSpPr>
          <p:cNvPr id="950" name="Google Shape;950;p64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1</a:t>
            </a:r>
            <a:r>
              <a:rPr b="0" lang="en"/>
              <a:t>.</a:t>
            </a:r>
            <a:endParaRPr b="0"/>
          </a:p>
        </p:txBody>
      </p:sp>
      <p:sp>
        <p:nvSpPr>
          <p:cNvPr id="951" name="Google Shape;951;p64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952" name="Google Shape;952;p64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6.</a:t>
            </a:r>
            <a:endParaRPr b="0"/>
          </a:p>
        </p:txBody>
      </p:sp>
      <p:sp>
        <p:nvSpPr>
          <p:cNvPr id="953" name="Google Shape;953;p64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65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 Chart</a:t>
            </a:r>
            <a:endParaRPr/>
          </a:p>
        </p:txBody>
      </p:sp>
      <p:sp>
        <p:nvSpPr>
          <p:cNvPr id="959" name="Google Shape;959;p65"/>
          <p:cNvSpPr txBox="1"/>
          <p:nvPr>
            <p:ph type="title"/>
          </p:nvPr>
        </p:nvSpPr>
        <p:spPr>
          <a:xfrm>
            <a:off x="38100" y="93150"/>
            <a:ext cx="20580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eGain - Functional Portion</a:t>
            </a:r>
            <a:endParaRPr/>
          </a:p>
        </p:txBody>
      </p:sp>
      <p:pic>
        <p:nvPicPr>
          <p:cNvPr id="960" name="Google Shape;96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0400" y="152400"/>
            <a:ext cx="3017101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66"/>
          <p:cNvSpPr/>
          <p:nvPr/>
        </p:nvSpPr>
        <p:spPr>
          <a:xfrm flipH="1" rot="10800000">
            <a:off x="3820750" y="2732038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6" name="Google Shape;966;p66"/>
          <p:cNvSpPr/>
          <p:nvPr/>
        </p:nvSpPr>
        <p:spPr>
          <a:xfrm flipH="1" rot="10800000">
            <a:off x="3820750" y="354096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7" name="Google Shape;967;p66"/>
          <p:cNvSpPr/>
          <p:nvPr/>
        </p:nvSpPr>
        <p:spPr>
          <a:xfrm>
            <a:off x="228600" y="2127275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8" name="Google Shape;968;p66"/>
          <p:cNvSpPr/>
          <p:nvPr/>
        </p:nvSpPr>
        <p:spPr>
          <a:xfrm>
            <a:off x="228600" y="2936226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9" name="Google Shape;969;p66"/>
          <p:cNvSpPr/>
          <p:nvPr/>
        </p:nvSpPr>
        <p:spPr>
          <a:xfrm>
            <a:off x="228600" y="3745177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0" name="Google Shape;970;p66"/>
          <p:cNvSpPr/>
          <p:nvPr/>
        </p:nvSpPr>
        <p:spPr>
          <a:xfrm flipH="1" rot="10800000">
            <a:off x="3820750" y="194911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1" name="Google Shape;971;p66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Backend:</a:t>
            </a:r>
            <a:r>
              <a:rPr lang="en"/>
              <a:t> FastAPI (Python) + Uvicorn ASGI server</a:t>
            </a:r>
            <a:endParaRPr/>
          </a:p>
        </p:txBody>
      </p:sp>
      <p:sp>
        <p:nvSpPr>
          <p:cNvPr id="972" name="Google Shape;972;p66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Conversational State Machine Pattern</a:t>
            </a:r>
            <a:endParaRPr/>
          </a:p>
        </p:txBody>
      </p:sp>
      <p:sp>
        <p:nvSpPr>
          <p:cNvPr id="973" name="Google Shape;973;p66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Session-Based Architecture</a:t>
            </a:r>
            <a:endParaRPr/>
          </a:p>
        </p:txBody>
      </p:sp>
      <p:sp>
        <p:nvSpPr>
          <p:cNvPr id="974" name="Google Shape;974;p66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Component-Based UI</a:t>
            </a:r>
            <a:endParaRPr/>
          </a:p>
        </p:txBody>
      </p:sp>
      <p:sp>
        <p:nvSpPr>
          <p:cNvPr id="975" name="Google Shape;975;p66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Key Design Decisions: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76" name="Google Shape;976;p66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Frontend: </a:t>
            </a:r>
            <a:r>
              <a:rPr lang="en"/>
              <a:t>Next.js 16 + React 19 + TypeScript + Tailwind CSS 4</a:t>
            </a:r>
            <a:endParaRPr/>
          </a:p>
        </p:txBody>
      </p:sp>
      <p:sp>
        <p:nvSpPr>
          <p:cNvPr id="977" name="Google Shape;977;p66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Communication: </a:t>
            </a:r>
            <a:r>
              <a:rPr lang="en"/>
              <a:t>REST API with JSON</a:t>
            </a:r>
            <a:endParaRPr/>
          </a:p>
        </p:txBody>
      </p:sp>
      <p:sp>
        <p:nvSpPr>
          <p:cNvPr id="978" name="Google Shape;978;p66"/>
          <p:cNvSpPr txBox="1"/>
          <p:nvPr>
            <p:ph idx="9" type="title"/>
          </p:nvPr>
        </p:nvSpPr>
        <p:spPr>
          <a:xfrm>
            <a:off x="38100" y="93150"/>
            <a:ext cx="23856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eGain - Functional Portion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66"/>
          <p:cNvSpPr txBox="1"/>
          <p:nvPr>
            <p:ph idx="13" type="title"/>
          </p:nvPr>
        </p:nvSpPr>
        <p:spPr>
          <a:xfrm>
            <a:off x="115025" y="502775"/>
            <a:ext cx="68352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 &amp; Architecture Tech Stack:</a:t>
            </a:r>
            <a:endParaRPr/>
          </a:p>
        </p:txBody>
      </p:sp>
      <p:sp>
        <p:nvSpPr>
          <p:cNvPr id="980" name="Google Shape;980;p66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81" name="Google Shape;981;p66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82" name="Google Shape;982;p66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6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67"/>
          <p:cNvSpPr txBox="1"/>
          <p:nvPr>
            <p:ph idx="2" type="title"/>
          </p:nvPr>
        </p:nvSpPr>
        <p:spPr>
          <a:xfrm>
            <a:off x="38100" y="93150"/>
            <a:ext cx="26118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eGain - Functional Portion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67"/>
          <p:cNvSpPr txBox="1"/>
          <p:nvPr>
            <p:ph type="title"/>
          </p:nvPr>
        </p:nvSpPr>
        <p:spPr>
          <a:xfrm>
            <a:off x="96025" y="1206300"/>
            <a:ext cx="6507000" cy="13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Conversational State Machine Pattern</a:t>
            </a:r>
            <a:endParaRPr/>
          </a:p>
        </p:txBody>
      </p:sp>
      <p:sp>
        <p:nvSpPr>
          <p:cNvPr id="990" name="Google Shape;990;p67"/>
          <p:cNvSpPr txBox="1"/>
          <p:nvPr>
            <p:ph idx="1" type="subTitle"/>
          </p:nvPr>
        </p:nvSpPr>
        <p:spPr>
          <a:xfrm>
            <a:off x="115025" y="2663900"/>
            <a:ext cx="3759600" cy="20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states: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awaiting_tracking →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awaiting_claim_confirmation →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awaiting_claim_email → claim_created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Maintains conversation context per session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Natural dialogue flow for package tracking → claim filing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68"/>
          <p:cNvSpPr txBox="1"/>
          <p:nvPr>
            <p:ph idx="2" type="title"/>
          </p:nvPr>
        </p:nvSpPr>
        <p:spPr>
          <a:xfrm>
            <a:off x="38100" y="93150"/>
            <a:ext cx="22917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eGain - Functional Portion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68"/>
          <p:cNvSpPr txBox="1"/>
          <p:nvPr>
            <p:ph type="title"/>
          </p:nvPr>
        </p:nvSpPr>
        <p:spPr>
          <a:xfrm>
            <a:off x="96025" y="1206300"/>
            <a:ext cx="6507000" cy="13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Session-Based Architecture</a:t>
            </a:r>
            <a:endParaRPr/>
          </a:p>
        </p:txBody>
      </p:sp>
      <p:sp>
        <p:nvSpPr>
          <p:cNvPr id="997" name="Google Shape;997;p68"/>
          <p:cNvSpPr txBox="1"/>
          <p:nvPr>
            <p:ph idx="1" type="subTitle"/>
          </p:nvPr>
        </p:nvSpPr>
        <p:spPr>
          <a:xfrm>
            <a:off x="96025" y="1895400"/>
            <a:ext cx="3759600" cy="201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Server-side session management with 1-hour TTL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In-memory storage for rapid prototyping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Session validation on all protected endpoints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6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69"/>
          <p:cNvSpPr txBox="1"/>
          <p:nvPr>
            <p:ph idx="2" type="title"/>
          </p:nvPr>
        </p:nvSpPr>
        <p:spPr>
          <a:xfrm>
            <a:off x="38100" y="93150"/>
            <a:ext cx="26661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eGain - Functional Portion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69"/>
          <p:cNvSpPr txBox="1"/>
          <p:nvPr>
            <p:ph type="title"/>
          </p:nvPr>
        </p:nvSpPr>
        <p:spPr>
          <a:xfrm>
            <a:off x="96025" y="1206300"/>
            <a:ext cx="6507000" cy="13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Component-Based UI</a:t>
            </a:r>
            <a:endParaRPr/>
          </a:p>
        </p:txBody>
      </p:sp>
      <p:sp>
        <p:nvSpPr>
          <p:cNvPr id="1005" name="Google Shape;1005;p69"/>
          <p:cNvSpPr txBox="1"/>
          <p:nvPr>
            <p:ph idx="1" type="subTitle"/>
          </p:nvPr>
        </p:nvSpPr>
        <p:spPr>
          <a:xfrm>
            <a:off x="96025" y="1895400"/>
            <a:ext cx="3759600" cy="201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Modular React components: ChatInterface (container) → ChatInput + MessageBubble (presentational)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Clean separation of concerns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Reusable, testable components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70"/>
          <p:cNvSpPr txBox="1"/>
          <p:nvPr>
            <p:ph idx="2" type="title"/>
          </p:nvPr>
        </p:nvSpPr>
        <p:spPr>
          <a:xfrm>
            <a:off x="38100" y="93150"/>
            <a:ext cx="23856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eGain - Functional Portion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70"/>
          <p:cNvSpPr txBox="1"/>
          <p:nvPr>
            <p:ph type="title"/>
          </p:nvPr>
        </p:nvSpPr>
        <p:spPr>
          <a:xfrm>
            <a:off x="96025" y="1206300"/>
            <a:ext cx="6507000" cy="13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Implementation</a:t>
            </a:r>
            <a:endParaRPr/>
          </a:p>
        </p:txBody>
      </p:sp>
      <p:sp>
        <p:nvSpPr>
          <p:cNvPr id="1012" name="Google Shape;1012;p70"/>
          <p:cNvSpPr txBox="1"/>
          <p:nvPr>
            <p:ph idx="1" type="subTitle"/>
          </p:nvPr>
        </p:nvSpPr>
        <p:spPr>
          <a:xfrm>
            <a:off x="96025" y="1975075"/>
            <a:ext cx="3759600" cy="75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11 REST endpoints (/chat/start, /chat/message, /chat/track, /chat/claim, etc.)</a:t>
            </a:r>
            <a:endParaRPr/>
          </a:p>
        </p:txBody>
      </p:sp>
      <p:sp>
        <p:nvSpPr>
          <p:cNvPr id="1013" name="Google Shape;1013;p70"/>
          <p:cNvSpPr txBox="1"/>
          <p:nvPr>
            <p:ph idx="1" type="subTitle"/>
          </p:nvPr>
        </p:nvSpPr>
        <p:spPr>
          <a:xfrm>
            <a:off x="96025" y="2814413"/>
            <a:ext cx="3759600" cy="75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Validation: Regex-based tracking number (^[A-Z]{2}\d{9}$) + email validation</a:t>
            </a:r>
            <a:endParaRPr/>
          </a:p>
        </p:txBody>
      </p:sp>
      <p:sp>
        <p:nvSpPr>
          <p:cNvPr id="1014" name="Google Shape;1014;p70"/>
          <p:cNvSpPr txBox="1"/>
          <p:nvPr>
            <p:ph idx="1" type="subTitle"/>
          </p:nvPr>
        </p:nvSpPr>
        <p:spPr>
          <a:xfrm>
            <a:off x="96025" y="3653750"/>
            <a:ext cx="3759600" cy="75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Mock Database: 8 sample packages with statuses (in_transit, delivered, lost)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71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IBM Plex Sans Medium"/>
                <a:ea typeface="IBM Plex Sans Medium"/>
                <a:cs typeface="IBM Plex Sans Medium"/>
                <a:sym typeface="IBM Plex Sans Medium"/>
              </a:rPr>
              <a:t>Problem 1</a:t>
            </a:r>
            <a:endParaRPr sz="15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900">
                <a:latin typeface="Sora Light"/>
                <a:ea typeface="Sora Light"/>
                <a:cs typeface="Sora Light"/>
                <a:sym typeface="Sora Light"/>
              </a:rPr>
              <a:t>Needed to remember tracking number when asking follow-up questions (claim confirmation, email)</a:t>
            </a:r>
            <a:endParaRPr sz="9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9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20" name="Google Shape;1020;p71"/>
          <p:cNvSpPr txBox="1"/>
          <p:nvPr>
            <p:ph idx="1" type="body"/>
          </p:nvPr>
        </p:nvSpPr>
        <p:spPr>
          <a:xfrm>
            <a:off x="4631450" y="2170025"/>
            <a:ext cx="2896200" cy="1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IBM Plex Sans Medium"/>
                <a:ea typeface="IBM Plex Sans Medium"/>
                <a:cs typeface="IBM Plex Sans Medium"/>
                <a:sym typeface="IBM Plex Sans Medium"/>
              </a:rPr>
              <a:t>Solution</a:t>
            </a:r>
            <a:endParaRPr sz="15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900">
                <a:latin typeface="Sora Light"/>
                <a:ea typeface="Sora Light"/>
                <a:cs typeface="Sora Light"/>
                <a:sym typeface="Sora Light"/>
              </a:rPr>
              <a:t>Implemented state machine with context object that persists tracking_number across conversation steps</a:t>
            </a:r>
            <a:endParaRPr sz="9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9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21" name="Google Shape;1021;p71"/>
          <p:cNvSpPr txBox="1"/>
          <p:nvPr>
            <p:ph type="title"/>
          </p:nvPr>
        </p:nvSpPr>
        <p:spPr>
          <a:xfrm>
            <a:off x="38100" y="93150"/>
            <a:ext cx="20469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eGain - Functional Portion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71"/>
          <p:cNvSpPr txBox="1"/>
          <p:nvPr>
            <p:ph idx="3" type="title"/>
          </p:nvPr>
        </p:nvSpPr>
        <p:spPr>
          <a:xfrm>
            <a:off x="115025" y="502775"/>
            <a:ext cx="3905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Faced</a:t>
            </a:r>
            <a:endParaRPr/>
          </a:p>
        </p:txBody>
      </p:sp>
      <p:sp>
        <p:nvSpPr>
          <p:cNvPr id="1023" name="Google Shape;1023;p71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72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IBM Plex Sans Medium"/>
                <a:ea typeface="IBM Plex Sans Medium"/>
                <a:cs typeface="IBM Plex Sans Medium"/>
                <a:sym typeface="IBM Plex Sans Medium"/>
              </a:rPr>
              <a:t>Problem 2</a:t>
            </a:r>
            <a:endParaRPr sz="15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900">
                <a:latin typeface="Sora Light"/>
                <a:ea typeface="Sora Light"/>
                <a:cs typeface="Sora Light"/>
                <a:sym typeface="Sora Light"/>
              </a:rPr>
              <a:t>Needed persistent sessions but no database requirement</a:t>
            </a:r>
            <a:endParaRPr sz="9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9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29" name="Google Shape;1029;p72"/>
          <p:cNvSpPr txBox="1"/>
          <p:nvPr>
            <p:ph idx="1" type="body"/>
          </p:nvPr>
        </p:nvSpPr>
        <p:spPr>
          <a:xfrm>
            <a:off x="4631450" y="2170025"/>
            <a:ext cx="2896200" cy="1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IBM Plex Sans Medium"/>
                <a:ea typeface="IBM Plex Sans Medium"/>
                <a:cs typeface="IBM Plex Sans Medium"/>
                <a:sym typeface="IBM Plex Sans Medium"/>
              </a:rPr>
              <a:t>Solution</a:t>
            </a:r>
            <a:endParaRPr sz="15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900">
                <a:latin typeface="Sora Light"/>
                <a:ea typeface="Sora Light"/>
                <a:cs typeface="Sora Light"/>
                <a:sym typeface="Sora Light"/>
              </a:rPr>
              <a:t>Built custom CookieStore class with in-memory dict + expiration logic (1-hour TTL)</a:t>
            </a:r>
            <a:endParaRPr sz="9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9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30" name="Google Shape;1030;p72"/>
          <p:cNvSpPr txBox="1"/>
          <p:nvPr>
            <p:ph type="title"/>
          </p:nvPr>
        </p:nvSpPr>
        <p:spPr>
          <a:xfrm>
            <a:off x="38100" y="93150"/>
            <a:ext cx="22917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eGain - Functional Portion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72"/>
          <p:cNvSpPr txBox="1"/>
          <p:nvPr>
            <p:ph idx="3" type="title"/>
          </p:nvPr>
        </p:nvSpPr>
        <p:spPr>
          <a:xfrm>
            <a:off x="115025" y="502775"/>
            <a:ext cx="3905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Faced</a:t>
            </a:r>
            <a:endParaRPr/>
          </a:p>
        </p:txBody>
      </p:sp>
      <p:sp>
        <p:nvSpPr>
          <p:cNvPr id="1032" name="Google Shape;1032;p72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73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IBM Plex Sans Medium"/>
                <a:ea typeface="IBM Plex Sans Medium"/>
                <a:cs typeface="IBM Plex Sans Medium"/>
                <a:sym typeface="IBM Plex Sans Medium"/>
              </a:rPr>
              <a:t>Problem 2</a:t>
            </a:r>
            <a:endParaRPr sz="15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900">
                <a:latin typeface="Sora Light"/>
                <a:ea typeface="Sora Light"/>
                <a:cs typeface="Sora Light"/>
                <a:sym typeface="Sora Light"/>
              </a:rPr>
              <a:t>Parsing user responses like "yes", "yeah", "sure" vs "no", "nope"</a:t>
            </a:r>
            <a:endParaRPr sz="9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9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38" name="Google Shape;1038;p73"/>
          <p:cNvSpPr txBox="1"/>
          <p:nvPr>
            <p:ph idx="1" type="body"/>
          </p:nvPr>
        </p:nvSpPr>
        <p:spPr>
          <a:xfrm>
            <a:off x="4631450" y="2170025"/>
            <a:ext cx="2896200" cy="1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IBM Plex Sans Medium"/>
                <a:ea typeface="IBM Plex Sans Medium"/>
                <a:cs typeface="IBM Plex Sans Medium"/>
                <a:sym typeface="IBM Plex Sans Medium"/>
              </a:rPr>
              <a:t>Solution</a:t>
            </a:r>
            <a:endParaRPr sz="15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900">
                <a:latin typeface="Sora Light"/>
                <a:ea typeface="Sora Light"/>
                <a:cs typeface="Sora Light"/>
                <a:sym typeface="Sora Light"/>
              </a:rPr>
              <a:t>Lowercase normalization + keyword checking (if "yes" in user_input.lower())</a:t>
            </a:r>
            <a:endParaRPr sz="9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9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39" name="Google Shape;1039;p73"/>
          <p:cNvSpPr txBox="1"/>
          <p:nvPr>
            <p:ph type="title"/>
          </p:nvPr>
        </p:nvSpPr>
        <p:spPr>
          <a:xfrm>
            <a:off x="38100" y="93150"/>
            <a:ext cx="24813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eGain - Functional Portion</a:t>
            </a:r>
            <a:endParaRPr/>
          </a:p>
        </p:txBody>
      </p:sp>
      <p:sp>
        <p:nvSpPr>
          <p:cNvPr id="1040" name="Google Shape;1040;p73"/>
          <p:cNvSpPr txBox="1"/>
          <p:nvPr>
            <p:ph idx="3" type="title"/>
          </p:nvPr>
        </p:nvSpPr>
        <p:spPr>
          <a:xfrm>
            <a:off x="115025" y="502775"/>
            <a:ext cx="3905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Faced</a:t>
            </a:r>
            <a:endParaRPr/>
          </a:p>
        </p:txBody>
      </p:sp>
      <p:sp>
        <p:nvSpPr>
          <p:cNvPr id="1041" name="Google Shape;1041;p73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047" name="Google Shape;1047;p74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Implementation</a:t>
            </a:r>
            <a:endParaRPr/>
          </a:p>
        </p:txBody>
      </p:sp>
      <p:sp>
        <p:nvSpPr>
          <p:cNvPr id="1048" name="Google Shape;1048;p74"/>
          <p:cNvSpPr txBox="1"/>
          <p:nvPr>
            <p:ph idx="5" type="title"/>
          </p:nvPr>
        </p:nvSpPr>
        <p:spPr>
          <a:xfrm>
            <a:off x="4154838" y="1888275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Enhanced Features</a:t>
            </a:r>
            <a:endParaRPr/>
          </a:p>
        </p:txBody>
      </p:sp>
      <p:sp>
        <p:nvSpPr>
          <p:cNvPr id="1049" name="Google Shape;1049;p74"/>
          <p:cNvSpPr txBox="1"/>
          <p:nvPr>
            <p:ph idx="2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Improvements</a:t>
            </a:r>
            <a:endParaRPr/>
          </a:p>
        </p:txBody>
      </p:sp>
      <p:sp>
        <p:nvSpPr>
          <p:cNvPr id="1050" name="Google Shape;1050;p74"/>
          <p:cNvSpPr txBox="1"/>
          <p:nvPr>
            <p:ph idx="4" type="title"/>
          </p:nvPr>
        </p:nvSpPr>
        <p:spPr>
          <a:xfrm>
            <a:off x="2069500" y="1888263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Natural Language Processing</a:t>
            </a:r>
            <a:endParaRPr/>
          </a:p>
        </p:txBody>
      </p:sp>
      <p:sp>
        <p:nvSpPr>
          <p:cNvPr id="1051" name="Google Shape;1051;p74"/>
          <p:cNvSpPr txBox="1"/>
          <p:nvPr>
            <p:ph idx="6" type="body"/>
          </p:nvPr>
        </p:nvSpPr>
        <p:spPr>
          <a:xfrm>
            <a:off x="102050" y="3153886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Redis for session caching (faster lookups)</a:t>
            </a:r>
            <a:endParaRPr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052" name="Google Shape;1052;p74"/>
          <p:cNvSpPr txBox="1"/>
          <p:nvPr>
            <p:ph idx="9" type="body"/>
          </p:nvPr>
        </p:nvSpPr>
        <p:spPr>
          <a:xfrm>
            <a:off x="4152000" y="2408474"/>
            <a:ext cx="1834500" cy="25929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upload for claim photos (damaged package evidence)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 notifications when claim status changes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Multi-language support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delivery notifications via webhooks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Claim status tracking page (not just chatbot)</a:t>
            </a:r>
            <a:endParaRPr/>
          </a:p>
        </p:txBody>
      </p:sp>
      <p:sp>
        <p:nvSpPr>
          <p:cNvPr id="1053" name="Google Shape;1053;p74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PostgreSQL/MongoDB for session + claims storage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054" name="Google Shape;1054;p74"/>
          <p:cNvSpPr txBox="1"/>
          <p:nvPr>
            <p:ph idx="7" type="body"/>
          </p:nvPr>
        </p:nvSpPr>
        <p:spPr>
          <a:xfrm>
            <a:off x="2069500" y="2471640"/>
            <a:ext cx="1834500" cy="21279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Integrate LLM (GPT-4/Claude) for better intent recognition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Handle typos, ambiguous queries, multi-intent messages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Handle typos, ambiguous queries, multi-intent messages</a:t>
            </a:r>
            <a:endParaRPr/>
          </a:p>
        </p:txBody>
      </p:sp>
      <p:cxnSp>
        <p:nvCxnSpPr>
          <p:cNvPr id="1055" name="Google Shape;1055;p74"/>
          <p:cNvCxnSpPr/>
          <p:nvPr/>
        </p:nvCxnSpPr>
        <p:spPr>
          <a:xfrm rot="5400000">
            <a:off x="2724500" y="3148650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6" name="Google Shape;1056;p74"/>
          <p:cNvCxnSpPr/>
          <p:nvPr/>
        </p:nvCxnSpPr>
        <p:spPr>
          <a:xfrm rot="5400000">
            <a:off x="725875" y="3148650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7" name="Google Shape;1057;p74"/>
          <p:cNvSpPr txBox="1"/>
          <p:nvPr>
            <p:ph idx="6" type="body"/>
          </p:nvPr>
        </p:nvSpPr>
        <p:spPr>
          <a:xfrm>
            <a:off x="115025" y="3883486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migrations support with tools like Alembic</a:t>
            </a:r>
            <a:endParaRPr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75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